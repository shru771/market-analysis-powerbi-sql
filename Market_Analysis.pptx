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74" r:id="rId10"/>
    <p:sldId id="263" r:id="rId11"/>
    <p:sldId id="272" r:id="rId12"/>
    <p:sldId id="264" r:id="rId13"/>
    <p:sldId id="273" r:id="rId14"/>
    <p:sldId id="265" r:id="rId15"/>
    <p:sldId id="275" r:id="rId16"/>
    <p:sldId id="266" r:id="rId17"/>
    <p:sldId id="267" r:id="rId18"/>
    <p:sldId id="268" r:id="rId19"/>
    <p:sldId id="269" r:id="rId20"/>
    <p:sldId id="27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3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B2A4A"/>
                </a:solidFill>
                <a:latin typeface="Arial"/>
              </a:rPr>
              <a:t>Top 5 Most Ordered Products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16E-4839-B008-1469AA90563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16E-4839-B008-1469AA90563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16E-4839-B008-1469AA90563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16E-4839-B008-1469AA90563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16E-4839-B008-1469AA90563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Banana</c:v>
                </c:pt>
                <c:pt idx="1">
                  <c:v>Strawberries</c:v>
                </c:pt>
                <c:pt idx="2">
                  <c:v>Baby Spinach</c:v>
                </c:pt>
                <c:pt idx="3">
                  <c:v>Avocado</c:v>
                </c:pt>
                <c:pt idx="4">
                  <c:v>Raspberries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491291</c:v>
                </c:pt>
                <c:pt idx="1">
                  <c:v>299970</c:v>
                </c:pt>
                <c:pt idx="2">
                  <c:v>264778</c:v>
                </c:pt>
                <c:pt idx="3">
                  <c:v>213584</c:v>
                </c:pt>
                <c:pt idx="4">
                  <c:v>201986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16E-4839-B008-1469AA9056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A4A"/>
                </a:solidFill>
                <a:latin typeface="Arial"/>
              </a:rPr>
              <a:t>Orders by Hour of Day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25400" cap="flat">
              <a:solidFill>
                <a:srgbClr val="E11D4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11D48"/>
              </a:solidFill>
              <a:ln w="9525" cap="flat">
                <a:solidFill>
                  <a:srgbClr val="E11D48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36</c:v>
                </c:pt>
                <c:pt idx="1">
                  <c:v>19</c:v>
                </c:pt>
                <c:pt idx="2">
                  <c:v>12</c:v>
                </c:pt>
                <c:pt idx="3">
                  <c:v>8</c:v>
                </c:pt>
                <c:pt idx="4">
                  <c:v>6</c:v>
                </c:pt>
                <c:pt idx="5">
                  <c:v>14</c:v>
                </c:pt>
                <c:pt idx="6">
                  <c:v>43</c:v>
                </c:pt>
                <c:pt idx="7">
                  <c:v>98</c:v>
                </c:pt>
                <c:pt idx="8">
                  <c:v>159</c:v>
                </c:pt>
                <c:pt idx="9">
                  <c:v>204</c:v>
                </c:pt>
                <c:pt idx="10">
                  <c:v>231</c:v>
                </c:pt>
                <c:pt idx="11">
                  <c:v>220</c:v>
                </c:pt>
                <c:pt idx="12">
                  <c:v>218</c:v>
                </c:pt>
                <c:pt idx="13">
                  <c:v>196</c:v>
                </c:pt>
                <c:pt idx="14">
                  <c:v>189</c:v>
                </c:pt>
                <c:pt idx="15">
                  <c:v>178</c:v>
                </c:pt>
                <c:pt idx="16">
                  <c:v>174</c:v>
                </c:pt>
                <c:pt idx="17">
                  <c:v>163</c:v>
                </c:pt>
                <c:pt idx="18">
                  <c:v>142</c:v>
                </c:pt>
                <c:pt idx="19">
                  <c:v>120</c:v>
                </c:pt>
                <c:pt idx="20">
                  <c:v>97</c:v>
                </c:pt>
                <c:pt idx="21">
                  <c:v>74</c:v>
                </c:pt>
                <c:pt idx="22">
                  <c:v>59</c:v>
                </c:pt>
                <c:pt idx="23">
                  <c:v>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E59-475A-A37F-388653190F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11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6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6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05840"/>
            <a:ext cx="3200400" cy="3200400"/>
          </a:xfrm>
          <a:prstGeom prst="ellipse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286000" cy="22860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Analysis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SQL &amp; Power BI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22860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546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31363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 |   Power BI   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840480"/>
            <a:ext cx="6400800" cy="598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DataMites Project Submission</a:t>
            </a:r>
          </a:p>
          <a:p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by: Shrusti N P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project exist?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572768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76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600200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 generate millions of transactions, making manual analysis impossible.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2176272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31136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203704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purchasing behavior and loyalty patterns is a critical challenge.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11480" y="2779776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346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807208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top-performing products and departments requires deep data exploration.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11480" y="338328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438144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410712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over/under-stocking leads to revenue loss without data-driven forecasting.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11480" y="3986784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041648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4014216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is wasted without insights into peak purchase periods and channels.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261872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2984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9786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205740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21208" y="2176272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21284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11226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ordering patterns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11480" y="297180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21208" y="3090672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312724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02666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reorder behavior &amp; loyalty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11480" y="388620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21208" y="4005072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04164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94106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peak purchase periods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846320" y="114300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956048" y="1261872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624" y="129844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32120" y="119786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department &amp; aisle performance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846320" y="205740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956048" y="2176272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4" y="221284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32120" y="211226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business insights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4846320" y="297180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956048" y="3090672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2624" y="3127248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532120" y="302666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marketing strategy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63,100+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09728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143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32,000+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03120" y="1691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109728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143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0" y="1691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09728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1143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77840" y="1691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109728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1143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0" y="1691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31720"/>
          <a:ext cx="8412480" cy="235915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orders with date/time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order_id, user_id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names &amp; category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product_id, aisle_id, dept_id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Top-level product 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department_id, 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subcategories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aisle_id, aisle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order_products_prior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purchase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order_id, product_id, reordered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Star Schema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19202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order_products_prior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2377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7007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0756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user_id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order_dow, days_since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2918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33467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3721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9400" y="16459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7007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0756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department_id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32918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33467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721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aisle_id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2103120"/>
            <a:ext cx="7772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2423160" y="2798064"/>
            <a:ext cx="822960" cy="950976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0" y="2103120"/>
            <a:ext cx="7315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806440" y="2834640"/>
            <a:ext cx="868680" cy="91440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Star Schema — 1 Fact Table + 4 Dimension Tables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Used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90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91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/ LEFT JOIN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884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121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ORDER BY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7860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5511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/ SUM() / AVG()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0837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29809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+ COUNTROWS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38144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34107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&amp; Derived Tables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67912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14400" y="3840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for filtered aggregates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97680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14400" y="42702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 &amp; CTE structures</a:t>
            </a:r>
            <a:endParaRPr lang="en-US" sz="1200" dirty="0"/>
          </a:p>
        </p:txBody>
      </p:sp>
      <p:sp>
        <p:nvSpPr>
          <p:cNvPr id="20" name="Shape 11"/>
          <p:cNvSpPr/>
          <p:nvPr/>
        </p:nvSpPr>
        <p:spPr>
          <a:xfrm>
            <a:off x="4572000" y="10972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2"/>
          <p:cNvSpPr/>
          <p:nvPr/>
        </p:nvSpPr>
        <p:spPr>
          <a:xfrm>
            <a:off x="4572000" y="1143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400" dirty="0"/>
          </a:p>
        </p:txBody>
      </p:sp>
      <p:sp>
        <p:nvSpPr>
          <p:cNvPr id="22" name="Text 13"/>
          <p:cNvSpPr/>
          <p:nvPr/>
        </p:nvSpPr>
        <p:spPr>
          <a:xfrm>
            <a:off x="457200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Solved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4572000" y="2606040"/>
            <a:ext cx="4206240" cy="365760"/>
          </a:xfrm>
          <a:prstGeom prst="roundRect">
            <a:avLst>
              <a:gd name="adj" fmla="val 17500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466344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Top 10 most ordered products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4572000" y="3035808"/>
            <a:ext cx="4206240" cy="365760"/>
          </a:xfrm>
          <a:prstGeom prst="roundRect">
            <a:avLst>
              <a:gd name="adj" fmla="val 17500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4663440" y="3035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Customer reorder frequency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4572000" y="3465576"/>
            <a:ext cx="4206240" cy="365760"/>
          </a:xfrm>
          <a:prstGeom prst="roundRect">
            <a:avLst>
              <a:gd name="adj" fmla="val 17500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4663440" y="3465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Peak ordering hour &amp; day of week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4572000" y="3895344"/>
            <a:ext cx="4206240" cy="365760"/>
          </a:xfrm>
          <a:prstGeom prst="roundRect">
            <a:avLst>
              <a:gd name="adj" fmla="val 17500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4663440" y="38953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Avg cart size per customer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4572000" y="4325112"/>
            <a:ext cx="4206240" cy="365760"/>
          </a:xfrm>
          <a:prstGeom prst="roundRect">
            <a:avLst>
              <a:gd name="adj" fmla="val 17500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4663440" y="4325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Department-wise order share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1AE769-0065-4686-4A92-D43190977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65" y="413951"/>
            <a:ext cx="8217244" cy="418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90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53619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161288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97864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67335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3.4M+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5760" y="204825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084832" y="1097280"/>
            <a:ext cx="153619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96896" y="1161288"/>
            <a:ext cx="502920" cy="50292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1197864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84832" y="167335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206K+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084832" y="204825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803904" y="1097280"/>
            <a:ext cx="153619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15968" y="1161288"/>
            <a:ext cx="502920" cy="50292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1197864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03904" y="167335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49,685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803904" y="204825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22976" y="1097280"/>
            <a:ext cx="153619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35040" y="1161288"/>
            <a:ext cx="502920" cy="502920"/>
          </a:xfrm>
          <a:prstGeom prst="ellipse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119786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22976" y="167335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522976" y="204825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242048" y="1097280"/>
            <a:ext cx="153619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54112" y="1161288"/>
            <a:ext cx="502920" cy="50292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1197864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42048" y="167335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7242048" y="204825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65760" y="251460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365760" y="2560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 days</a:t>
            </a:r>
            <a:endParaRPr lang="en-US" sz="2600" dirty="0"/>
          </a:p>
        </p:txBody>
      </p:sp>
      <p:sp>
        <p:nvSpPr>
          <p:cNvPr id="31" name="Text 24"/>
          <p:cNvSpPr/>
          <p:nvPr/>
        </p:nvSpPr>
        <p:spPr>
          <a:xfrm>
            <a:off x="365760" y="3017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Between Orders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3749040" y="251460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3886200" y="2633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4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6200" y="3090672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251960" y="3063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customer engagement with 3.4M+ orders across 206K users</a:t>
            </a:r>
            <a:endParaRPr lang="en-US" sz="12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6200" y="3621024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251960" y="35935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product catalog spanning 21 departments and 134 aisles</a:t>
            </a:r>
            <a:endParaRPr lang="en-US" sz="12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6200" y="4151376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251960" y="412394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transaction volume indicates active, returning customer base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Screenshot: Executive Summary Dashboard (Power BI)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AB1BE0-0591-3F8A-4D88-184D75021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" y="0"/>
            <a:ext cx="913569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20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374904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109728" cy="667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612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206,209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83664"/>
            <a:ext cx="374904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83664"/>
            <a:ext cx="109728" cy="667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293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59.5%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249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374904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51760"/>
            <a:ext cx="109728" cy="667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items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3017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Size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374904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419856"/>
            <a:ext cx="109728" cy="6675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655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 days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3785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Between Orders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87952"/>
            <a:ext cx="374904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87952"/>
            <a:ext cx="109728" cy="6675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336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4360" y="4553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Add-To-Cart Position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1115568"/>
            <a:ext cx="4389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1188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Loyalty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15361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reorder within 2 weeks, indicating strong brand stickiness.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0" y="2414016"/>
            <a:ext cx="4389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24871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Carts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0" y="28346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cart size of ~10 items suggests customers do full grocery runs.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89120" y="3712464"/>
            <a:ext cx="4389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0" y="37856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Engaged Base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0" y="413308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59.5% repeat purchase rate shows sustained platform engagement.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Screenshot: Customer Analysis Dashboard (Power BI)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898E89-75F5-EE52-6BA5-EB25F1480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" y="0"/>
            <a:ext cx="912243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16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Analysis Dashboard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9728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15000" y="1170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 Dominates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15000" y="14447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department leads all categories by order volume.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77840" y="205740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15000" y="2130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Items Win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15000" y="24048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fruits &amp; vegetables are the most reordered aisles.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301752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15000" y="3090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Reorder Rate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15000" y="33649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59.5% of all items ordered were previously bought (reorders).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397764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15000" y="4050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Banana #1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15000" y="432511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 is the single most ordered product with 491K+ orders.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Screenshot: Product Analysis Dashboard (Power BI)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A90CBC-AD15-71C2-D563-2045F6F43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7"/>
            <a:ext cx="9144000" cy="513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86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Insights Dashboard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5303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170432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280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852160" y="17647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Ordering Hour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06640" y="1170432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06640" y="1280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Saturday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06640" y="17647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Ordering Day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2542032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2651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Banana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852160" y="3136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Reordered Product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2542032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06640" y="2651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406640" y="3136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Department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Screenshot: Marketing Insights Dashboard (Power BI)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A0D9C9-36DF-9BEA-B57B-1AD6A5912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60"/>
            <a:ext cx="9144000" cy="513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94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776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977640" cy="502920"/>
          </a:xfrm>
          <a:prstGeom prst="roundRect">
            <a:avLst>
              <a:gd name="adj" fmla="val 2181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👥 Customer Findings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71907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reorder very frequently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4086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32257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 = 59.5% of all purchases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4436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size ≈ 10 products per order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4787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52958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concentrated within 2 weeks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51376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0120" y="41330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206K+ unique customers on the platform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4800600" y="1097280"/>
            <a:ext cx="39776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800600" y="1097280"/>
            <a:ext cx="3977640" cy="502920"/>
          </a:xfrm>
          <a:prstGeom prst="roundRect">
            <a:avLst>
              <a:gd name="adj" fmla="val 2181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937760" y="11155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📦 Product Findings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73736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171907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department performs the best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340864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94960" y="232257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 is #1 most reordered product</a:t>
            </a:r>
            <a:endParaRPr lang="en-US" sz="13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44368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9496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produce dominates top aisles</a:t>
            </a:r>
            <a:endParaRPr lang="en-US" sz="13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547872"/>
            <a:ext cx="274320" cy="27432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94960" y="352958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product loyalty across categories</a:t>
            </a:r>
            <a:endParaRPr lang="en-US" sz="13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151376"/>
            <a:ext cx="274320" cy="27432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94960" y="41330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product set drives majority of orders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52728"/>
            <a:ext cx="502920" cy="502920"/>
          </a:xfrm>
          <a:prstGeom prst="ellipse">
            <a:avLst/>
          </a:prstGeom>
          <a:solidFill>
            <a:srgbClr val="E11D48">
              <a:alpha val="15000"/>
            </a:srgbClr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28930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2527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Peak Windows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1783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promotions &amp; push notifications between 10 AM–2 PM for maximum reach.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82112" y="11430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9272" y="1252728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28930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9352" y="12527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Loyalty Programs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91840" y="1783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59.5% reorder rate, reward programs will deepen retention further.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98464" y="11430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35624" y="1252728"/>
            <a:ext cx="502920" cy="50292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8930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75704" y="12527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 Offers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08192" y="1783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reorder history to personalize email/app recommendations per customer.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" y="3127248"/>
            <a:ext cx="502920" cy="5029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316382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31272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Produce-First Marketing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75488" y="36576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campaign spend on high-demand Produce items — fastest-moving category.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182112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19272" y="3127248"/>
            <a:ext cx="502920" cy="50292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16382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9352" y="31272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Inventory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291840" y="36576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stock buffer for top 50 products ahead of Saturday demand spikes.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998464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35624" y="3127248"/>
            <a:ext cx="502920" cy="50292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16382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75704" y="31272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with AI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108192" y="36576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demand forecasting models using order frequency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 Technical Challenges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411480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910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5448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3M+ row dataset without performance degradation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148840"/>
            <a:ext cx="411480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0370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1671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efficient JOINs across 5 related tables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65760" y="2761488"/>
            <a:ext cx="411480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1635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77977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complex DAX measures (RANKX, CALCULATE, SWITCH)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65760" y="3374136"/>
            <a:ext cx="411480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2900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339242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row context vs. filter context errors in Power BI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65760" y="3986784"/>
            <a:ext cx="411480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4164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4400" y="400507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 optimization for readability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💼 Business Challenges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663440" y="153619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09344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66360" y="158191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vague business questions into SQL KPIs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4663440" y="235915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432304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66360" y="240487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meaningful chart types for each metric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4663440" y="318211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255264"/>
            <a:ext cx="274320" cy="27432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66360" y="322783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technical depth with executive clarity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4663440" y="400507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078224"/>
            <a:ext cx="274320" cy="27432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166360" y="40507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actionable insights from raw numbers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16736"/>
            <a:ext cx="502920" cy="50292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35331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167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184708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to group customers by recency, frequency &amp; monetary value.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82112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9272" y="1316736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3533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9352" y="13167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91840" y="184708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to suggest products based on purchase history.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98464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35624" y="1316736"/>
            <a:ext cx="502920" cy="5029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35331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75704" y="13167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Forecasting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08192" y="184708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models to predict future order volumes by product/category.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" y="3145536"/>
            <a:ext cx="502920" cy="50292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318211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31455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Optimization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75488" y="367588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demand planning to minimize stockouts and overstock.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182112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19272" y="3145536"/>
            <a:ext cx="502920" cy="502920"/>
          </a:xfrm>
          <a:prstGeom prst="ellipse">
            <a:avLst/>
          </a:prstGeom>
          <a:solidFill>
            <a:srgbClr val="E11D48">
              <a:alpha val="15000"/>
            </a:srgbClr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18211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9352" y="31455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Prediction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291840" y="367588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at-risk customers using ML classifiers before they lapse.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998464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35624" y="3145536"/>
            <a:ext cx="502920" cy="50292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182112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75704" y="31455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Dashboard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108192" y="367588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data pipeline with Power BI DirectQuery integration.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743200"/>
            <a:ext cx="4114800" cy="4114800"/>
          </a:xfrm>
          <a:prstGeom prst="ellipse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828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7043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analyzed customer purchasing behavior across 3M+ transactions.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708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82880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top-performing products, aisles &amp; departments using SQL &amp; Power BI.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05456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48716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customer loyalty with a 59.5% reorder rate across 206K+ customers.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63824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145536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interactive Power BI dashboards covering executive, customer, product &amp; marketing views.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22192"/>
            <a:ext cx="347472" cy="34747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1560" y="380390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actionable recommendations to improve revenue, retention &amp; operations.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1645920" y="4407408"/>
            <a:ext cx="5852160" cy="594360"/>
          </a:xfrm>
          <a:prstGeom prst="roundRect">
            <a:avLst>
              <a:gd name="adj" fmla="val 1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0"/>
          <p:cNvSpPr/>
          <p:nvPr/>
        </p:nvSpPr>
        <p:spPr>
          <a:xfrm>
            <a:off x="1645920" y="440740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 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976</Words>
  <Application>Microsoft Office PowerPoint</Application>
  <PresentationFormat>On-screen Show (16:9)</PresentationFormat>
  <Paragraphs>213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Analysis using SQL &amp; Power BI</dc:title>
  <dc:subject>PptxGenJS Presentation</dc:subject>
  <dc:creator>PptxGenJS</dc:creator>
  <cp:lastModifiedBy>Shrusti N P</cp:lastModifiedBy>
  <cp:revision>3</cp:revision>
  <dcterms:created xsi:type="dcterms:W3CDTF">2026-06-10T09:08:59Z</dcterms:created>
  <dcterms:modified xsi:type="dcterms:W3CDTF">2026-06-10T10:06:22Z</dcterms:modified>
</cp:coreProperties>
</file>